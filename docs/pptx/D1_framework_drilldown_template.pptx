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2.xml"/><Relationship Id="rId3" Type="http://schemas.openxmlformats.org/officeDocument/2006/relationships/image" Target="../media/image1.png"/><Relationship Id="rId4" Type="http://schemas.openxmlformats.org/officeDocument/2006/relationships/slide" Target="slide3.xml"/><Relationship Id="rId5" Type="http://schemas.openxmlformats.org/officeDocument/2006/relationships/image" Target="../media/image2.png"/><Relationship Id="rId6" Type="http://schemas.openxmlformats.org/officeDocument/2006/relationships/slide" Target="slide4.xml"/><Relationship Id="rId7" Type="http://schemas.openxmlformats.org/officeDocument/2006/relationships/image" Target="../media/image3.png"/><Relationship Id="rId8" Type="http://schemas.openxmlformats.org/officeDocument/2006/relationships/slide" Target="slide5.xml"/><Relationship Id="rId9" Type="http://schemas.openxmlformats.org/officeDocument/2006/relationships/image" Target="../media/image4.png"/><Relationship Id="rId10" Type="http://schemas.openxmlformats.org/officeDocument/2006/relationships/slide" Target="slide6.xml"/><Relationship Id="rId11" Type="http://schemas.openxmlformats.org/officeDocument/2006/relationships/image" Target="../media/image5.png"/><Relationship Id="rId12" Type="http://schemas.openxmlformats.org/officeDocument/2006/relationships/slide" Target="slide7.xml"/><Relationship Id="rId13" Type="http://schemas.openxmlformats.org/officeDocument/2006/relationships/image" Target="../media/image6.png"/><Relationship Id="rId14" Type="http://schemas.openxmlformats.org/officeDocument/2006/relationships/slide" Target="slide8.xml"/><Relationship Id="rId15" Type="http://schemas.openxmlformats.org/officeDocument/2006/relationships/image" Target="../media/image7.png"/><Relationship Id="rId16" Type="http://schemas.openxmlformats.org/officeDocument/2006/relationships/slide" Target="slide9.xml"/><Relationship Id="rId17" Type="http://schemas.openxmlformats.org/officeDocument/2006/relationships/image" Target="../media/image8.png"/><Relationship Id="rId18" Type="http://schemas.openxmlformats.org/officeDocument/2006/relationships/slide" Target="slide10.xml"/><Relationship Id="rId19" Type="http://schemas.openxmlformats.org/officeDocument/2006/relationships/image" Target="../media/image9.png"/><Relationship Id="rId20" Type="http://schemas.openxmlformats.org/officeDocument/2006/relationships/slide" Target="slide1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"/>
            <a:ext cx="11094415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DoView Tool D1 – DoView Planning Framework</a:t>
            </a:r>
          </a:p>
        </p:txBody>
      </p:sp>
      <p:sp>
        <p:nvSpPr>
          <p:cNvPr id="3" name="TextBox 2"/>
          <p:cNvSpPr txBox="1"/>
          <p:nvPr/>
        </p:nvSpPr>
        <p:spPr>
          <a:xfrm rot="16200000">
            <a:off x="1097280" y="1005840"/>
            <a:ext cx="457200" cy="1417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Strategy</a:t>
            </a:r>
            <a:br/>
            <a:r>
              <a:t>and planning</a:t>
            </a:r>
          </a:p>
        </p:txBody>
      </p:sp>
      <p:sp>
        <p:nvSpPr>
          <p:cNvPr id="4" name="TextBox 3"/>
          <p:cNvSpPr txBox="1"/>
          <p:nvPr/>
        </p:nvSpPr>
        <p:spPr>
          <a:xfrm rot="16200000">
            <a:off x="1097280" y="2651760"/>
            <a:ext cx="457200" cy="1783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Monitoring &amp;</a:t>
            </a:r>
            <a:br/>
            <a:r>
              <a:t>performance &amp;</a:t>
            </a:r>
            <a:br/>
            <a:r>
              <a:t>outcomes</a:t>
            </a:r>
          </a:p>
        </p:txBody>
      </p:sp>
      <p:sp>
        <p:nvSpPr>
          <p:cNvPr id="5" name="TextBox 4"/>
          <p:cNvSpPr txBox="1"/>
          <p:nvPr/>
        </p:nvSpPr>
        <p:spPr>
          <a:xfrm rot="16200000">
            <a:off x="1097280" y="4663440"/>
            <a:ext cx="457200" cy="18745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6" name="Rounded Rectangle 5">
            <a:hlinkClick action="ppaction://hlinksldjump" r:id="rId2"/>
          </p:cNvPr>
          <p:cNvSpPr/>
          <p:nvPr/>
        </p:nvSpPr>
        <p:spPr>
          <a:xfrm>
            <a:off x="1600200" y="1005840"/>
            <a:ext cx="319521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764792" y="11155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A</a:t>
            </a:r>
          </a:p>
        </p:txBody>
      </p:sp>
      <p:pic>
        <p:nvPicPr>
          <p:cNvPr id="8" name="Picture 7" descr="icon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7769" y="1097280"/>
            <a:ext cx="640080" cy="6400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828800" y="1874520"/>
            <a:ext cx="2738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Evidence-based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STRATEGY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specified</a:t>
            </a:r>
          </a:p>
        </p:txBody>
      </p:sp>
      <p:sp>
        <p:nvSpPr>
          <p:cNvPr id="10" name="Rounded Rectangle 9">
            <a:hlinkClick action="ppaction://hlinksldjump" r:id="rId4"/>
          </p:cNvPr>
          <p:cNvSpPr/>
          <p:nvPr/>
        </p:nvSpPr>
        <p:spPr>
          <a:xfrm>
            <a:off x="5024018" y="1005840"/>
            <a:ext cx="319521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188610" y="11155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B</a:t>
            </a:r>
          </a:p>
        </p:txBody>
      </p:sp>
      <p:pic>
        <p:nvPicPr>
          <p:cNvPr id="12" name="Picture 11" descr="iconB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1587" y="1097280"/>
            <a:ext cx="640080" cy="640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52618" y="1874520"/>
            <a:ext cx="2738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PRIORITIZATION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of outcomes</a:t>
            </a:r>
          </a:p>
        </p:txBody>
      </p:sp>
      <p:sp>
        <p:nvSpPr>
          <p:cNvPr id="14" name="Rounded Rectangle 13">
            <a:hlinkClick action="ppaction://hlinksldjump" r:id="rId6"/>
          </p:cNvPr>
          <p:cNvSpPr/>
          <p:nvPr/>
        </p:nvSpPr>
        <p:spPr>
          <a:xfrm>
            <a:off x="8447836" y="1005840"/>
            <a:ext cx="3195218" cy="14173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12428" y="11155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C</a:t>
            </a:r>
          </a:p>
        </p:txBody>
      </p:sp>
      <p:pic>
        <p:nvPicPr>
          <p:cNvPr id="16" name="Picture 15" descr="ico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725405" y="1097280"/>
            <a:ext cx="640080" cy="6400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676436" y="1874520"/>
            <a:ext cx="2738018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ALIGNMENT of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activities</a:t>
            </a:r>
          </a:p>
        </p:txBody>
      </p:sp>
      <p:sp>
        <p:nvSpPr>
          <p:cNvPr id="18" name="Rounded Rectangle 17">
            <a:hlinkClick action="ppaction://hlinksldjump" r:id="rId8"/>
          </p:cNvPr>
          <p:cNvSpPr/>
          <p:nvPr/>
        </p:nvSpPr>
        <p:spPr>
          <a:xfrm>
            <a:off x="1600200" y="2651760"/>
            <a:ext cx="10042855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764792" y="276148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D</a:t>
            </a:r>
          </a:p>
        </p:txBody>
      </p:sp>
      <p:pic>
        <p:nvPicPr>
          <p:cNvPr id="20" name="Picture 19" descr="icon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01587" y="2743200"/>
            <a:ext cx="640080" cy="6400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828800" y="3520440"/>
            <a:ext cx="9585655" cy="-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OUTPUTS and indicators the initiative controls</a:t>
            </a:r>
          </a:p>
        </p:txBody>
      </p:sp>
      <p:sp>
        <p:nvSpPr>
          <p:cNvPr id="22" name="Rounded Rectangle 21">
            <a:hlinkClick action="ppaction://hlinksldjump" r:id="rId10"/>
          </p:cNvPr>
          <p:cNvSpPr/>
          <p:nvPr/>
        </p:nvSpPr>
        <p:spPr>
          <a:xfrm>
            <a:off x="1600200" y="3657600"/>
            <a:ext cx="10042855" cy="777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64792" y="376732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E</a:t>
            </a:r>
          </a:p>
        </p:txBody>
      </p:sp>
      <p:pic>
        <p:nvPicPr>
          <p:cNvPr id="24" name="Picture 23" descr="icon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01587" y="3749040"/>
            <a:ext cx="640080" cy="64008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828800" y="4526280"/>
            <a:ext cx="9585655" cy="-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High-level OUTCOMES that are not-necessarily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controllable or attributable to the initiative</a:t>
            </a:r>
          </a:p>
        </p:txBody>
      </p:sp>
      <p:sp>
        <p:nvSpPr>
          <p:cNvPr id="26" name="Rounded Rectangle 25">
            <a:hlinkClick action="ppaction://hlinksldjump" r:id="rId12"/>
          </p:cNvPr>
          <p:cNvSpPr/>
          <p:nvPr/>
        </p:nvSpPr>
        <p:spPr>
          <a:xfrm>
            <a:off x="1600200" y="4663440"/>
            <a:ext cx="233926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64792" y="47731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F</a:t>
            </a:r>
          </a:p>
        </p:txBody>
      </p:sp>
      <p:pic>
        <p:nvPicPr>
          <p:cNvPr id="28" name="Picture 27" descr="iconF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449791" y="4754880"/>
            <a:ext cx="640080" cy="640080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828800" y="5532120"/>
            <a:ext cx="1882063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IMPLEMENT-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ATION evaluation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for optimization</a:t>
            </a:r>
          </a:p>
        </p:txBody>
      </p:sp>
      <p:sp>
        <p:nvSpPr>
          <p:cNvPr id="30" name="Rounded Rectangle 29">
            <a:hlinkClick action="ppaction://hlinksldjump" r:id="rId14"/>
          </p:cNvPr>
          <p:cNvSpPr/>
          <p:nvPr/>
        </p:nvSpPr>
        <p:spPr>
          <a:xfrm>
            <a:off x="4168063" y="4663440"/>
            <a:ext cx="233926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32655" y="47731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G</a:t>
            </a:r>
          </a:p>
        </p:txBody>
      </p:sp>
      <p:pic>
        <p:nvPicPr>
          <p:cNvPr id="32" name="Picture 31" descr="iconG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017655" y="4754880"/>
            <a:ext cx="640080" cy="64008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396663" y="5532120"/>
            <a:ext cx="1882063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PROCESS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evaluation for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description</a:t>
            </a:r>
          </a:p>
        </p:txBody>
      </p:sp>
      <p:sp>
        <p:nvSpPr>
          <p:cNvPr id="34" name="Rounded Rectangle 33">
            <a:hlinkClick action="ppaction://hlinksldjump" r:id="rId16"/>
          </p:cNvPr>
          <p:cNvSpPr/>
          <p:nvPr/>
        </p:nvSpPr>
        <p:spPr>
          <a:xfrm>
            <a:off x="6735927" y="4663440"/>
            <a:ext cx="233926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00519" y="47731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H</a:t>
            </a:r>
          </a:p>
        </p:txBody>
      </p:sp>
      <p:pic>
        <p:nvPicPr>
          <p:cNvPr id="36" name="Picture 35" descr="iconH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585519" y="4754880"/>
            <a:ext cx="640080" cy="64008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964527" y="5532120"/>
            <a:ext cx="1882063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IMPACT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evaluation to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prove impact</a:t>
            </a:r>
          </a:p>
        </p:txBody>
      </p:sp>
      <p:sp>
        <p:nvSpPr>
          <p:cNvPr id="38" name="Rounded Rectangle 37">
            <a:hlinkClick action="ppaction://hlinksldjump" r:id="rId18"/>
          </p:cNvPr>
          <p:cNvSpPr/>
          <p:nvPr/>
        </p:nvSpPr>
        <p:spPr>
          <a:xfrm>
            <a:off x="9303791" y="4663440"/>
            <a:ext cx="2339263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8383" y="4773168"/>
            <a:ext cx="3657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200">
                <a:solidFill>
                  <a:srgbClr val="000000"/>
                </a:solidFill>
                <a:latin typeface="Calibri"/>
              </a:defRPr>
            </a:pPr>
            <a:r>
              <a:t>I</a:t>
            </a:r>
          </a:p>
        </p:txBody>
      </p:sp>
      <p:pic>
        <p:nvPicPr>
          <p:cNvPr id="40" name="Picture 39" descr="iconI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0153383" y="4754880"/>
            <a:ext cx="640080" cy="6400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9532391" y="5532120"/>
            <a:ext cx="1882063" cy="9143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ECONOMIC and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SUMMATIVE</a:t>
            </a:r>
          </a:p>
          <a:p>
            <a:pPr algn="ctr">
              <a:defRPr sz="2000">
                <a:solidFill>
                  <a:srgbClr val="000000"/>
                </a:solidFill>
                <a:latin typeface="Calibri"/>
              </a:defRPr>
            </a:pPr>
            <a:r>
              <a:t>evaluation</a:t>
            </a:r>
          </a:p>
        </p:txBody>
      </p:sp>
      <p:sp>
        <p:nvSpPr>
          <p:cNvPr id="42" name="Rounded Rectangle 41">
            <a:hlinkClick action="ppaction://hlinksldjump" r:id="rId20"/>
          </p:cNvPr>
          <p:cNvSpPr/>
          <p:nvPr/>
        </p:nvSpPr>
        <p:spPr>
          <a:xfrm>
            <a:off x="1600200" y="6766559"/>
            <a:ext cx="10042855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828800" y="7635239"/>
            <a:ext cx="9585655" cy="-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ACCOUNTABILITY, DELEGATION</a:t>
            </a:r>
          </a:p>
          <a:p>
            <a:pPr algn="ctr">
              <a:defRPr sz="1800">
                <a:solidFill>
                  <a:srgbClr val="000000"/>
                </a:solidFill>
                <a:latin typeface="Calibri"/>
              </a:defRPr>
            </a:pPr>
            <a:r>
              <a:t>and CONTRACTING arrangements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A — Evidence-based STRATEGY specified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B — PRIORITIZATION of outcomes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C — ALIGNMENT of activities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D — OUTPUTS and indicators the initiative controls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E — High-level OUTCOMES that are not-necessarily controllable or attributable to the initiative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F — IMPLEMENT- ATION evaluation for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G — PROCESS evaluation for description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H — IMPACT evaluation to prove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I — ECONOMIC and SUMMATIVE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>
            <a:hlinkClick action="ppaction://hlinksldjump" r:id="rId2"/>
          </p:cNvPr>
          <p:cNvSpPr/>
          <p:nvPr/>
        </p:nvSpPr>
        <p:spPr>
          <a:xfrm>
            <a:off x="365760" y="228600"/>
            <a:ext cx="1828800" cy="457200"/>
          </a:xfrm>
          <a:prstGeom prst="roundRect">
            <a:avLst>
              <a:gd name="adj" fmla="val 20000"/>
            </a:avLst>
          </a:prstGeom>
          <a:solidFill>
            <a:srgbClr val="EBEBEB"/>
          </a:solidFill>
          <a:ln w="12700">
            <a:solidFill>
              <a:srgbClr val="7878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000000"/>
                </a:solidFill>
                <a:latin typeface="Calibri"/>
              </a:defRPr>
            </a:pPr>
            <a:r>
              <a:t>Back to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14400"/>
            <a:ext cx="1109441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800">
                <a:solidFill>
                  <a:srgbClr val="000000"/>
                </a:solidFill>
                <a:latin typeface="Calibri"/>
              </a:defRPr>
            </a:pPr>
            <a:r>
              <a:t>ACC — ACCOUNTABILITY, DELEGATION and CONTRACTING arrangements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737360"/>
            <a:ext cx="11094415" cy="4572000"/>
          </a:xfrm>
          <a:prstGeom prst="rect">
            <a:avLst/>
          </a:prstGeom>
          <a:solidFill>
            <a:srgbClr val="FAFAFA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defRPr sz="1800">
                <a:solidFill>
                  <a:srgbClr val="8C8C8C"/>
                </a:solidFill>
                <a:latin typeface="Calibri"/>
              </a:defRPr>
            </a:pPr>
            <a:r>
              <a:t>Add details here…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